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Emphasize that labor is typically a company's largest expense, yet often the least accurately audited.</a:t>
            </a:r>
          </a:p>
          <a:p>
            <a:r>
              <a:t>• Introduce the concept of 'buddy punching' as a quantifiable financial drain that ADP SecurTime eliminates through biometric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Emphasize the elimination of 'time theft' and manual data entry errors to ensure payroll accuracy.</a:t>
            </a:r>
          </a:p>
          <a:p>
            <a:r>
              <a:t>• Highlight the operational agility gained by automating complex shift schedules.</a:t>
            </a:r>
          </a:p>
          <a:p>
            <a:r>
              <a:t>• Connect mobile geofencing capabilities to the challenge of managing remote and field-based teams.</a:t>
            </a:r>
          </a:p>
          <a:p>
            <a:r>
              <a:t>• Stress the value of a unified system that bridges the gap between time capture and payroll processing.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Demonstrate the real-time dashboard to show immediate visibility into workforce status.</a:t>
            </a:r>
          </a:p>
          <a:p>
            <a:r>
              <a:t>• Walk through the automated payroll integration to highlight time savings and error reduction.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Discuss how manual time tracking often leads to 'buddy punching' and calculation errors, which can inadvertently inflate gross payroll costs significantly.</a:t>
            </a:r>
          </a:p>
          <a:p>
            <a:r>
              <a:t>• Highlight the operational confidence gained by managing workforce productivity across 1,000+ locations from a single dashboard, ensuring consistent standards regardless of geography.</a:t>
            </a:r>
          </a:p>
          <a:p>
            <a:r>
              <a:t>• Emphasize the return on investment achieved by replacing manual data entry with automated integration, which drastically reduces the hours spent on payroll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Propose a specific time next week for a 30-minute walkthrough of the interface.</a:t>
            </a:r>
          </a:p>
          <a:p>
            <a:r>
              <a:t>• Offer to forward a detailed product specification sheet if a meeting cannot be scheduled immediately.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lgn="ctr">
              <a:defRPr sz="4400" b="1">
                <a:solidFill>
                  <a:srgbClr val="333333"/>
                </a:solidFill>
                <a:latin typeface="Calibri"/>
              </a:defRPr>
            </a:pPr>
            <a:r>
              <a:t>ADP SecurTime: Easily track employee hours and attendance for accurate payroll processing.</a:t>
            </a:r>
          </a:p>
        </p:txBody>
      </p:sp>
      <p:sp>
        <p:nvSpPr>
          <p:cNvPr id="4" name="TextBox 3"/>
          <p:cNvSpPr txBox="1"/>
          <p:nvPr/>
        </p:nvSpPr>
        <p:spPr>
          <a:xfrm>
            <a:off x="457200" y="5943600"/>
            <a:ext cx="11277295" cy="457200"/>
          </a:xfrm>
          <a:prstGeom prst="rect">
            <a:avLst/>
          </a:prstGeom>
          <a:noFill/>
        </p:spPr>
        <p:txBody>
          <a:bodyPr wrap="none">
            <a:spAutoFit/>
          </a:bodyPr>
          <a:lstStyle/>
          <a:p>
            <a:pPr algn="ctr">
              <a:defRPr sz="1400">
                <a:solidFill>
                  <a:srgbClr val="FF6600"/>
                </a:solidFill>
                <a:latin typeface="Calibri"/>
              </a:defRPr>
            </a:pPr>
            <a:r>
              <a:t>ADP SecurTime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Opening Hook</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Elimination of payroll leakage caused by time theft</a:t>
            </a:r>
          </a:p>
          <a:p>
            <a:pPr>
              <a:spcAft>
                <a:spcPts val="1200"/>
              </a:spcAft>
              <a:defRPr sz="1600">
                <a:solidFill>
                  <a:srgbClr val="333333"/>
                </a:solidFill>
                <a:latin typeface="Calibri"/>
              </a:defRPr>
            </a:pPr>
            <a:r>
              <a:t>• The critical difference between reported time and verified presence</a:t>
            </a:r>
          </a:p>
          <a:p>
            <a:pPr>
              <a:spcAft>
                <a:spcPts val="1200"/>
              </a:spcAft>
              <a:defRPr sz="1600">
                <a:solidFill>
                  <a:srgbClr val="333333"/>
                </a:solidFill>
                <a:latin typeface="Calibri"/>
              </a:defRPr>
            </a:pPr>
            <a:r>
              <a:t>• The financial risk of relying on outdated attendance tracking methods</a:t>
            </a:r>
          </a:p>
        </p:txBody>
      </p:sp>
      <p:pic>
        <p:nvPicPr>
          <p:cNvPr id="5" name="Picture 4" descr="2167f6759b48.jpg"/>
          <p:cNvPicPr>
            <a:picLocks noChangeAspect="1"/>
          </p:cNvPicPr>
          <p:nvPr/>
        </p:nvPicPr>
        <p:blipFill>
          <a:blip r:embed="rId2"/>
          <a:stretch>
            <a:fillRect/>
          </a:stretch>
        </p:blipFill>
        <p:spPr>
          <a:xfrm>
            <a:off x="6858000" y="1645920"/>
            <a:ext cx="4572000" cy="33421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Section</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a:t>
            </a:r>
          </a:p>
        </p:txBody>
      </p:sp>
      <p:pic>
        <p:nvPicPr>
          <p:cNvPr id="5" name="Picture 4" descr="2167f6759b48.jpg"/>
          <p:cNvPicPr>
            <a:picLocks noChangeAspect="1"/>
          </p:cNvPicPr>
          <p:nvPr/>
        </p:nvPicPr>
        <p:blipFill>
          <a:blip r:embed="rId2"/>
          <a:stretch>
            <a:fillRect/>
          </a:stretch>
        </p:blipFill>
        <p:spPr>
          <a:xfrm>
            <a:off x="6858000" y="1645920"/>
            <a:ext cx="4572000" cy="33421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The Solution: ADP SecurTime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Centralized workforce management with real-time visibility</a:t>
            </a:r>
          </a:p>
          <a:p>
            <a:pPr>
              <a:spcAft>
                <a:spcPts val="1200"/>
              </a:spcAft>
              <a:defRPr sz="1600">
                <a:solidFill>
                  <a:srgbClr val="333333"/>
                </a:solidFill>
                <a:latin typeface="Calibri"/>
              </a:defRPr>
            </a:pPr>
            <a:r>
              <a:t>• Enhanced security and accuracy through biometric verification</a:t>
            </a:r>
          </a:p>
          <a:p>
            <a:pPr>
              <a:spcAft>
                <a:spcPts val="1200"/>
              </a:spcAft>
              <a:defRPr sz="1600">
                <a:solidFill>
                  <a:srgbClr val="333333"/>
                </a:solidFill>
                <a:latin typeface="Calibri"/>
              </a:defRPr>
            </a:pPr>
            <a:r>
              <a:t>• Seamless payroll integration to reduce processing errors</a:t>
            </a:r>
          </a:p>
          <a:p>
            <a:pPr>
              <a:spcAft>
                <a:spcPts val="1200"/>
              </a:spcAft>
              <a:defRPr sz="1600">
                <a:solidFill>
                  <a:srgbClr val="333333"/>
                </a:solidFill>
                <a:latin typeface="Calibri"/>
              </a:defRPr>
            </a:pPr>
            <a:r>
              <a:t>• Location-intelligent tracking via mobile geofencing</a:t>
            </a:r>
          </a:p>
        </p:txBody>
      </p:sp>
      <p:pic>
        <p:nvPicPr>
          <p:cNvPr id="5" name="Picture 4" descr="0255d68573a1.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Key Features</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Enhance Workforce Visibility and Control: Real-time tracking provides a single, accurate view of attendance and productivity, effectively preventing time leakage and unauthorized absences.</a:t>
            </a:r>
          </a:p>
          <a:p>
            <a:pPr>
              <a:spcAft>
                <a:spcPts val="1200"/>
              </a:spcAft>
              <a:defRPr sz="1600">
                <a:solidFill>
                  <a:srgbClr val="333333"/>
                </a:solidFill>
                <a:latin typeface="Calibri"/>
              </a:defRPr>
            </a:pPr>
            <a:r>
              <a:t>• Streamline Payroll Accuracy: Automated synchronization pushes attendance and leave data directly to systems like ADP Vista, eliminating manual entry errors and ensuring precise compensation.</a:t>
            </a:r>
          </a:p>
          <a:p>
            <a:pPr>
              <a:spcAft>
                <a:spcPts val="1200"/>
              </a:spcAft>
              <a:defRPr sz="1600">
                <a:solidFill>
                  <a:srgbClr val="333333"/>
                </a:solidFill>
                <a:latin typeface="Calibri"/>
              </a:defRPr>
            </a:pPr>
            <a:r>
              <a:t>• Eliminate Attendance Fraud: Advanced biometric authentication—including facial recognition and fingerprint scanning—ensures accurate identification and prevents proxy attendance.</a:t>
            </a:r>
          </a:p>
          <a:p>
            <a:pPr>
              <a:spcAft>
                <a:spcPts val="1200"/>
              </a:spcAft>
              <a:defRPr sz="1600">
                <a:solidFill>
                  <a:srgbClr val="333333"/>
                </a:solidFill>
                <a:latin typeface="Calibri"/>
              </a:defRPr>
            </a:pPr>
            <a:r>
              <a:t>• Validate Remote Operations: Mobile geofencing restricts attendance marking to defined geographic areas, ensuring accountability for off-site and field employees.</a:t>
            </a:r>
          </a:p>
          <a:p>
            <a:pPr>
              <a:spcAft>
                <a:spcPts val="1200"/>
              </a:spcAft>
              <a:defRPr sz="1600">
                <a:solidFill>
                  <a:srgbClr val="333333"/>
                </a:solidFill>
                <a:latin typeface="Calibri"/>
              </a:defRPr>
            </a:pPr>
            <a:r>
              <a:t>• Optimize Staffing Efficiency: Automated scheduling tools generate shifts based on employee availability and skill sets, reducing administrative errors and maximizing resource allocation.</a:t>
            </a:r>
          </a:p>
        </p:txBody>
      </p:sp>
      <p:pic>
        <p:nvPicPr>
          <p:cNvPr id="5" name="Picture 4" descr="0255d68573a1.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What You Will Achieve with ADP SecurTime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Eradicate payroll leakage and unauthorized payments through biometric authentication, effectively stopping time fraud and manual errors to directly recover lost revenue.</a:t>
            </a:r>
          </a:p>
          <a:p>
            <a:pPr>
              <a:spcAft>
                <a:spcPts val="1200"/>
              </a:spcAft>
              <a:defRPr sz="1600">
                <a:solidFill>
                  <a:srgbClr val="333333"/>
                </a:solidFill>
                <a:latin typeface="Calibri"/>
              </a:defRPr>
            </a:pPr>
            <a:r>
              <a:t>• Achieve absolute visibility over distributed workforces, enabling seamless management of on-premise, remote, and field employees across thousands of locations in real-time.</a:t>
            </a:r>
          </a:p>
          <a:p>
            <a:pPr>
              <a:spcAft>
                <a:spcPts val="1200"/>
              </a:spcAft>
              <a:defRPr sz="1600">
                <a:solidFill>
                  <a:srgbClr val="333333"/>
                </a:solidFill>
                <a:latin typeface="Calibri"/>
              </a:defRPr>
            </a:pPr>
            <a:r>
              <a:t>• Reduce administrative overhead by automating complex scheduling and rostering, allowing management to focus on high-value strategic initiatives rather than manual logistics.</a:t>
            </a:r>
          </a:p>
          <a:p>
            <a:pPr>
              <a:spcAft>
                <a:spcPts val="1200"/>
              </a:spcAft>
              <a:defRPr sz="1600">
                <a:solidFill>
                  <a:srgbClr val="333333"/>
                </a:solidFill>
                <a:latin typeface="Calibri"/>
              </a:defRPr>
            </a:pPr>
            <a:r>
              <a:t>• Mitigate legal risks and ensure audit readiness by automatically applying localized labor laws, overtime rules, and leave policies to prevent non-compliance penalties.</a:t>
            </a:r>
          </a:p>
          <a:p>
            <a:pPr>
              <a:spcAft>
                <a:spcPts val="1200"/>
              </a:spcAft>
              <a:defRPr sz="1600">
                <a:solidFill>
                  <a:srgbClr val="333333"/>
                </a:solidFill>
                <a:latin typeface="Calibri"/>
              </a:defRPr>
            </a:pPr>
            <a:r>
              <a:t>• Streamline payroll processing with error-free, automated data integration, ensuring employees are compensated accurately and on time while eliminating manual data entry.</a:t>
            </a:r>
          </a:p>
          <a:p>
            <a:pPr>
              <a:spcAft>
                <a:spcPts val="1200"/>
              </a:spcAft>
              <a:defRPr sz="1600">
                <a:solidFill>
                  <a:srgbClr val="333333"/>
                </a:solidFill>
                <a:latin typeface="Calibri"/>
              </a:defRPr>
            </a:pPr>
            <a:r>
              <a:t>• Prioritize employee well-being with contactless technology and health screening features that support rigorous health and safety protocols within physical workspaces.</a:t>
            </a:r>
          </a:p>
        </p:txBody>
      </p:sp>
      <p:pic>
        <p:nvPicPr>
          <p:cNvPr id="5" name="Picture 4" descr="0255d68573a1.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Section</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a:t>
            </a:r>
          </a:p>
        </p:txBody>
      </p:sp>
      <p:pic>
        <p:nvPicPr>
          <p:cNvPr id="5" name="Picture 4" descr="2167f6759b48.jpg"/>
          <p:cNvPicPr>
            <a:picLocks noChangeAspect="1"/>
          </p:cNvPicPr>
          <p:nvPr/>
        </p:nvPicPr>
        <p:blipFill>
          <a:blip r:embed="rId2"/>
          <a:stretch>
            <a:fillRect/>
          </a:stretch>
        </p:blipFill>
        <p:spPr>
          <a:xfrm>
            <a:off x="6858000" y="1645920"/>
            <a:ext cx="4572000" cy="33421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Optimize Workforce Management with ADP SecurTime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Schedule a personalized platform demonstration</a:t>
            </a:r>
          </a:p>
          <a:p>
            <a:pPr>
              <a:spcAft>
                <a:spcPts val="1200"/>
              </a:spcAft>
              <a:defRPr sz="1600">
                <a:solidFill>
                  <a:srgbClr val="333333"/>
                </a:solidFill>
                <a:latin typeface="Calibri"/>
              </a:defRPr>
            </a:pPr>
            <a:r>
              <a:t>• Request a consultation for custom pricing</a:t>
            </a:r>
          </a:p>
        </p:txBody>
      </p:sp>
      <p:pic>
        <p:nvPicPr>
          <p:cNvPr id="5" name="Picture 4" descr="2167f6759b48.jpg"/>
          <p:cNvPicPr>
            <a:picLocks noChangeAspect="1"/>
          </p:cNvPicPr>
          <p:nvPr/>
        </p:nvPicPr>
        <p:blipFill>
          <a:blip r:embed="rId2"/>
          <a:stretch>
            <a:fillRect/>
          </a:stretch>
        </p:blipFill>
        <p:spPr>
          <a:xfrm>
            <a:off x="6858000" y="1645920"/>
            <a:ext cx="4572000" cy="33421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11277295" cy="914400"/>
          </a:xfrm>
          <a:prstGeom prst="rect">
            <a:avLst/>
          </a:prstGeom>
          <a:noFill/>
        </p:spPr>
        <p:txBody>
          <a:bodyPr wrap="none">
            <a:spAutoFit/>
          </a:bodyPr>
          <a:lstStyle/>
          <a:p>
            <a:pPr algn="ctr">
              <a:defRPr sz="4000" b="1">
                <a:solidFill>
                  <a:srgbClr val="0066CC"/>
                </a:solidFill>
                <a:latin typeface="Calibri"/>
              </a:defRPr>
            </a:pPr>
            <a:r>
              <a:t>Next Steps</a:t>
            </a:r>
          </a:p>
        </p:txBody>
      </p:sp>
      <p:sp>
        <p:nvSpPr>
          <p:cNvPr id="4" name="TextBox 3"/>
          <p:cNvSpPr txBox="1"/>
          <p:nvPr/>
        </p:nvSpPr>
        <p:spPr>
          <a:xfrm>
            <a:off x="1371600" y="2743200"/>
            <a:ext cx="9448495" cy="1097280"/>
          </a:xfrm>
          <a:prstGeom prst="rect">
            <a:avLst/>
          </a:prstGeom>
          <a:noFill/>
        </p:spPr>
        <p:txBody>
          <a:bodyPr wrap="square">
            <a:spAutoFit/>
          </a:bodyPr>
          <a:lstStyle/>
          <a:p>
            <a:pPr algn="ctr">
              <a:defRPr sz="2400" b="1">
                <a:solidFill>
                  <a:srgbClr val="FF6600"/>
                </a:solidFill>
                <a:latin typeface="Calibri"/>
              </a:defRPr>
            </a:pPr>
            <a:r>
              <a:t>Schedule a personalized platform demonstration</a:t>
            </a:r>
          </a:p>
        </p:txBody>
      </p:sp>
      <p:sp>
        <p:nvSpPr>
          <p:cNvPr id="5" name="TextBox 4"/>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none">
            <a:spAutoFit/>
          </a:bodyPr>
          <a:lstStyle/>
          <a:p>
            <a:pPr>
              <a:defRPr sz="3200" b="1">
                <a:solidFill>
                  <a:srgbClr val="0066CC"/>
                </a:solidFill>
                <a:latin typeface="Calibri"/>
              </a:defRPr>
            </a:pPr>
            <a:r>
              <a:t>The 30-Second Pitch</a:t>
            </a:r>
          </a:p>
        </p:txBody>
      </p:sp>
      <p:sp>
        <p:nvSpPr>
          <p:cNvPr id="4" name="TextBox 3"/>
          <p:cNvSpPr txBox="1"/>
          <p:nvPr/>
        </p:nvSpPr>
        <p:spPr>
          <a:xfrm>
            <a:off x="914400" y="1828800"/>
            <a:ext cx="10362895" cy="3657600"/>
          </a:xfrm>
          <a:prstGeom prst="rect">
            <a:avLst/>
          </a:prstGeom>
          <a:noFill/>
        </p:spPr>
        <p:txBody>
          <a:bodyPr wrap="square">
            <a:spAutoFit/>
          </a:bodyPr>
          <a:lstStyle/>
          <a:p>
            <a:pPr algn="ctr">
              <a:defRPr sz="2200" i="1">
                <a:solidFill>
                  <a:srgbClr val="333333"/>
                </a:solidFill>
                <a:latin typeface="Calibri"/>
              </a:defRPr>
            </a:pPr>
            <a:r>
              <a:t>"ADP SecurTime is an automated time and attendance platform that gives you total visibility over your distributed workforce while simplifying complex scheduling. We help you eliminate payroll leakage and compliance risks by streamlining your payroll processing with accurate, real-time data. This empowers you to stop time fraud and significantly reduce administrative burden, protecting both your time and your bottom line."</a:t>
            </a:r>
          </a:p>
        </p:txBody>
      </p:sp>
      <p:sp>
        <p:nvSpPr>
          <p:cNvPr id="5" name="TextBox 4"/>
          <p:cNvSpPr txBox="1"/>
          <p:nvPr/>
        </p:nvSpPr>
        <p:spPr>
          <a:xfrm>
            <a:off x="1371600" y="4572000"/>
            <a:ext cx="9448495" cy="1828800"/>
          </a:xfrm>
          <a:prstGeom prst="rect">
            <a:avLst/>
          </a:prstGeom>
          <a:noFill/>
        </p:spPr>
        <p:txBody>
          <a:bodyPr wrap="square">
            <a:spAutoFit/>
          </a:bodyPr>
          <a:lstStyle/>
          <a:p>
            <a:pPr>
              <a:defRPr sz="1400" b="1">
                <a:solidFill>
                  <a:srgbClr val="666666"/>
                </a:solidFill>
                <a:latin typeface="Calibri"/>
              </a:defRPr>
            </a:pPr>
            <a:r>
              <a:t>Key Messages:</a:t>
            </a:r>
          </a:p>
          <a:p>
            <a:pPr>
              <a:defRPr sz="1200">
                <a:solidFill>
                  <a:srgbClr val="666666"/>
                </a:solidFill>
                <a:latin typeface="Calibri"/>
              </a:defRPr>
            </a:pPr>
            <a:r>
              <a:t>• Stop payroll leakage and time fraud using advanced biometric security.</a:t>
            </a:r>
          </a:p>
          <a:p>
            <a:pPr>
              <a:defRPr sz="1200">
                <a:solidFill>
                  <a:srgbClr val="666666"/>
                </a:solidFill>
                <a:latin typeface="Calibri"/>
              </a:defRPr>
            </a:pPr>
            <a:r>
              <a:t>• Streamline processing with seamless, real-time integration into your ADP payroll.</a:t>
            </a:r>
          </a:p>
          <a:p>
            <a:pPr>
              <a:defRPr sz="1200">
                <a:solidFill>
                  <a:srgbClr val="666666"/>
                </a:solidFill>
                <a:latin typeface="Calibri"/>
              </a:defRPr>
            </a:pPr>
            <a:r>
              <a:t>• Retrofit existing hardware to manage diverse workforces without new equipment costs.</a:t>
            </a:r>
          </a:p>
          <a:p>
            <a:pPr>
              <a:defRPr sz="1200">
                <a:solidFill>
                  <a:srgbClr val="666666"/>
                </a:solidFill>
                <a:latin typeface="Calibri"/>
              </a:defRPr>
            </a:pPr>
            <a:r>
              <a:t>• Securely track distributed teams with advanced geofencing and real-time visibility.</a:t>
            </a:r>
          </a:p>
        </p:txBody>
      </p:sp>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none">
            <a:spAutoFit/>
          </a:bodyPr>
          <a:lstStyle/>
          <a:p>
            <a:pPr algn="ctr">
              <a:defRPr sz="4800" b="1">
                <a:solidFill>
                  <a:srgbClr val="333333"/>
                </a:solidFill>
                <a:latin typeface="Calibri"/>
              </a:defRPr>
            </a:pPr>
            <a:r>
              <a:t>Thank You</a:t>
            </a:r>
          </a:p>
        </p:txBody>
      </p:sp>
      <p:sp>
        <p:nvSpPr>
          <p:cNvPr id="4" name="TextBox 3"/>
          <p:cNvSpPr txBox="1"/>
          <p:nvPr/>
        </p:nvSpPr>
        <p:spPr>
          <a:xfrm>
            <a:off x="914400" y="3657600"/>
            <a:ext cx="10362895" cy="914400"/>
          </a:xfrm>
          <a:prstGeom prst="rect">
            <a:avLst/>
          </a:prstGeom>
          <a:noFill/>
        </p:spPr>
        <p:txBody>
          <a:bodyPr wrap="square">
            <a:spAutoFit/>
          </a:bodyPr>
          <a:lstStyle/>
          <a:p>
            <a:pPr algn="ctr">
              <a:defRPr sz="2000">
                <a:solidFill>
                  <a:srgbClr val="666666"/>
                </a:solidFill>
                <a:latin typeface="Calibri"/>
              </a:defRPr>
            </a:pPr>
            <a:r>
              <a:t>Easily track employee hours and attendance for accurate payroll processing.</a:t>
            </a:r>
          </a:p>
        </p:txBody>
      </p:sp>
      <p:sp>
        <p:nvSpPr>
          <p:cNvPr id="5" name="TextBox 4"/>
          <p:cNvSpPr txBox="1"/>
          <p:nvPr/>
        </p:nvSpPr>
        <p:spPr>
          <a:xfrm>
            <a:off x="457200" y="5486400"/>
            <a:ext cx="11277295" cy="457200"/>
          </a:xfrm>
          <a:prstGeom prst="rect">
            <a:avLst/>
          </a:prstGeom>
          <a:noFill/>
        </p:spPr>
        <p:txBody>
          <a:bodyPr wrap="none">
            <a:spAutoFit/>
          </a:bodyPr>
          <a:lstStyle/>
          <a:p>
            <a:pPr algn="ctr">
              <a:defRPr sz="1400">
                <a:solidFill>
                  <a:srgbClr val="FF6600"/>
                </a:solidFill>
                <a:latin typeface="Calibri"/>
              </a:defRPr>
            </a:pPr>
            <a:r>
              <a:t>https://in.adp.com/what-we-offer/products/adp-securtime.aspx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