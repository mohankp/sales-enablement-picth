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Pause to let the question sink in, establishing it as a strategic, high-level concern.</a:t>
            </a:r>
          </a:p>
          <a:p>
            <a:r>
              <a:t>• This isn't about individual performance, but about the systemic inefficiencies that create financial leakage and compliance risk—challenges that can only be solved with true visibility.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Many leaders find that by the time they receive workforce reports, the data is already obsolete. This latency can lead to budget overruns from uncontrolled overtime or misallocated project resources.</a:t>
            </a:r>
          </a:p>
          <a:p>
            <a:r>
              <a:t>• Does your executive team have immediate access to accurate, consolidated data to confidently assess labor costs against revenue and make agile operational adjustments?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Emphasize the transformation from manual, error-prone processes to an automated, data-driven strategy for managing the organization's workforce.</a:t>
            </a:r>
          </a:p>
          <a:p>
            <a:r>
              <a:t>• Connect the solution's capabilities directly to primary executive concerns: controlling labor costs, mitigating compliance risks, and improving operational efficiency.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Share a customer success story where a similar-sized company reduced payroll errors by over 90% and reallocated administrative headcount to more strategic roles.</a:t>
            </a:r>
          </a:p>
          <a:p>
            <a:r>
              <a:t>• Quantify the impact: 'Based on your current workforce size, a conservative 2% savings on payroll could translate to an estimated $[X] in annual bottom-line impact.'</a:t>
            </a:r>
          </a:p>
          <a:p>
            <a:r>
              <a:t>• Discuss the peace of mind that comes from knowing your organization is protected against wage and hour lawsuits, which have become increasingly common and costly.</a:t>
            </a:r>
          </a:p>
          <a:p>
            <a:r>
              <a:t>• Explain how real-time visibility empowers leaders to address productivity or attendance issues proactively, rather than discovering them weeks later.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When compared to other time and attendance providers, it is important to note the strategic difference in scope. While many systems offer effective point solutions for time tracking, ADP SecurTime is engineered as a comprehensive workforce management platform. Our ability to unify scheduling, leave, and compliance on a single system provides a single source of truth for critical labor data. Furthermore, our unique flexibility in hardware integration and our specialized, industry-specific solutions deliver a level of operational efficiency and risk mitigation that standalone systems cannot match.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Ask for a brief 15-minute executive briefing to demonstrate how ADP SecurTime directly addresses their top-line goals for labor cost control and operational efficiency.</a:t>
            </a:r>
          </a:p>
          <a:p>
            <a:r>
              <a:t>• If they are not available for a demonstration, offer to send a concise information package including our tiered pricing model and a one-page case study relevant to their industry, making it easy for them to delegate the initial review.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square">
            <a:spAutoFit/>
          </a:bodyPr>
          <a:lstStyle/>
          <a:p>
            <a:pPr algn="ctr">
              <a:defRPr sz="4400" b="1">
                <a:solidFill>
                  <a:srgbClr val="333333"/>
                </a:solidFill>
                <a:latin typeface="Calibri"/>
              </a:defRPr>
            </a:pPr>
            <a:r>
              <a:t>ADP SecurTime: Effortlessly manage employee time, attendance, and payroll in one simple solution.</a:t>
            </a:r>
          </a:p>
        </p:txBody>
      </p:sp>
      <p:sp>
        <p:nvSpPr>
          <p:cNvPr id="4" name="TextBox 3"/>
          <p:cNvSpPr txBox="1"/>
          <p:nvPr/>
        </p:nvSpPr>
        <p:spPr>
          <a:xfrm>
            <a:off x="457200" y="3840480"/>
            <a:ext cx="11277295" cy="914400"/>
          </a:xfrm>
          <a:prstGeom prst="rect">
            <a:avLst/>
          </a:prstGeom>
          <a:noFill/>
        </p:spPr>
        <p:txBody>
          <a:bodyPr wrap="square">
            <a:spAutoFit/>
          </a:bodyPr>
          <a:lstStyle/>
          <a:p>
            <a:pPr algn="ctr">
              <a:defRPr sz="2400">
                <a:solidFill>
                  <a:srgbClr val="666666"/>
                </a:solidFill>
                <a:latin typeface="Calibri"/>
              </a:defRPr>
            </a:pPr>
            <a:r>
              <a:t>ADP SecurTime is a workforce management solution designed to streamline attendance tracking, timesheets, payroll, and leave management. It offers real-time visibility into employee data, helping bu...</a:t>
            </a:r>
          </a:p>
        </p:txBody>
      </p:sp>
      <p:sp>
        <p:nvSpPr>
          <p:cNvPr id="5" name="TextBox 4"/>
          <p:cNvSpPr txBox="1"/>
          <p:nvPr/>
        </p:nvSpPr>
        <p:spPr>
          <a:xfrm>
            <a:off x="457200" y="5943600"/>
            <a:ext cx="11277295" cy="457200"/>
          </a:xfrm>
          <a:prstGeom prst="rect">
            <a:avLst/>
          </a:prstGeom>
          <a:noFill/>
        </p:spPr>
        <p:txBody>
          <a:bodyPr wrap="none">
            <a:spAutoFit/>
          </a:bodyPr>
          <a:lstStyle/>
          <a:p>
            <a:pPr algn="ctr">
              <a:defRPr sz="1400">
                <a:solidFill>
                  <a:srgbClr val="FF6600"/>
                </a:solidFill>
                <a:latin typeface="Calibri"/>
              </a:defRPr>
            </a:pPr>
            <a:r>
              <a:t>ADP SecurTime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Opening Hook</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Your company's most valuable asset is time, yet it's often the least accurately measured and the largest source of hidden operational costs. How confident are you that every dollar on your payroll ...</a:t>
            </a:r>
          </a:p>
        </p:txBody>
      </p:sp>
      <p:pic>
        <p:nvPicPr>
          <p:cNvPr id="5" name="Picture 4" descr="2167f6759b48.jpg"/>
          <p:cNvPicPr>
            <a:picLocks noChangeAspect="1"/>
          </p:cNvPicPr>
          <p:nvPr/>
        </p:nvPicPr>
        <p:blipFill>
          <a:blip r:embed="rId2"/>
          <a:stretch>
            <a:fillRect/>
          </a:stretch>
        </p:blipFill>
        <p:spPr>
          <a:xfrm>
            <a:off x="6858000" y="1645920"/>
            <a:ext cx="4572000" cy="33421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The Challenge: Navigating Workforce Complexity</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Lack of real-time visibility into labor costs and employee productivity, hindering strategic resource allocation.</a:t>
            </a:r>
          </a:p>
          <a:p>
            <a:pPr>
              <a:spcAft>
                <a:spcPts val="1200"/>
              </a:spcAft>
              <a:defRPr sz="1600">
                <a:solidFill>
                  <a:srgbClr val="333333"/>
                </a:solidFill>
                <a:latin typeface="Calibri"/>
              </a:defRPr>
            </a:pPr>
            <a:r>
              <a:t>• Increased operational overhead and financial leakage resulting from manual data entry and payroll inaccuracies.</a:t>
            </a:r>
          </a:p>
          <a:p>
            <a:pPr>
              <a:spcAft>
                <a:spcPts val="1200"/>
              </a:spcAft>
              <a:defRPr sz="1600">
                <a:solidFill>
                  <a:srgbClr val="333333"/>
                </a:solidFill>
                <a:latin typeface="Calibri"/>
              </a:defRPr>
            </a:pPr>
            <a:r>
              <a:t>• Significant compliance risks associated with evolving labor laws, overtime calculation, and leave management.</a:t>
            </a:r>
          </a:p>
        </p:txBody>
      </p:sp>
      <p:pic>
        <p:nvPicPr>
          <p:cNvPr id="5" name="Picture 4" descr="2167f6759b48.jpg"/>
          <p:cNvPicPr>
            <a:picLocks noChangeAspect="1"/>
          </p:cNvPicPr>
          <p:nvPr/>
        </p:nvPicPr>
        <p:blipFill>
          <a:blip r:embed="rId2"/>
          <a:stretch>
            <a:fillRect/>
          </a:stretch>
        </p:blipFill>
        <p:spPr>
          <a:xfrm>
            <a:off x="6858000" y="1645920"/>
            <a:ext cx="4572000" cy="33421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The Solution: ADP SecurTime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Achieve real-time visibility into workforce data to optimize labor costs and enhance productivity.</a:t>
            </a:r>
          </a:p>
          <a:p>
            <a:pPr>
              <a:spcAft>
                <a:spcPts val="1200"/>
              </a:spcAft>
              <a:defRPr sz="1600">
                <a:solidFill>
                  <a:srgbClr val="333333"/>
                </a:solidFill>
                <a:latin typeface="Calibri"/>
              </a:defRPr>
            </a:pPr>
            <a:r>
              <a:t>• Ensure regulatory compliance and reduce administrative overhead through automated time, attendance, and leave management.</a:t>
            </a:r>
          </a:p>
        </p:txBody>
      </p:sp>
      <p:pic>
        <p:nvPicPr>
          <p:cNvPr id="5" name="Picture 4" descr="0255d68573a1.png"/>
          <p:cNvPicPr>
            <a:picLocks noChangeAspect="1"/>
          </p:cNvPicPr>
          <p:nvPr/>
        </p:nvPicPr>
        <p:blipFill>
          <a:blip r:embed="rId2"/>
          <a:stretch>
            <a:fillRect/>
          </a:stretch>
        </p:blipFill>
        <p:spPr>
          <a:xfrm>
            <a:off x="6858000" y="1645920"/>
            <a:ext cx="4572000" cy="25903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Achieve Greater Control and Drive Strategic Growth</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Protect Profitability by Eliminating Payroll Inflation:</a:t>
            </a:r>
          </a:p>
          <a:p>
            <a:pPr>
              <a:spcAft>
                <a:spcPts val="1200"/>
              </a:spcAft>
              <a:defRPr sz="1600">
                <a:solidFill>
                  <a:srgbClr val="333333"/>
                </a:solidFill>
                <a:latin typeface="Calibri"/>
              </a:defRPr>
            </a:pPr>
            <a:r>
              <a:t>• Enhance Strategic Oversight with Real-Time Data:</a:t>
            </a:r>
          </a:p>
          <a:p>
            <a:pPr>
              <a:spcAft>
                <a:spcPts val="1200"/>
              </a:spcAft>
              <a:defRPr sz="1600">
                <a:solidFill>
                  <a:srgbClr val="333333"/>
                </a:solidFill>
                <a:latin typeface="Calibri"/>
              </a:defRPr>
            </a:pPr>
            <a:r>
              <a:t>• Increase Operational Agility for Modern Workforces:</a:t>
            </a:r>
          </a:p>
          <a:p>
            <a:pPr>
              <a:spcAft>
                <a:spcPts val="1200"/>
              </a:spcAft>
              <a:defRPr sz="1600">
                <a:solidFill>
                  <a:srgbClr val="333333"/>
                </a:solidFill>
                <a:latin typeface="Calibri"/>
              </a:defRPr>
            </a:pPr>
            <a:r>
              <a:t>• Safeguard the Organization from Compliance Risks:</a:t>
            </a:r>
          </a:p>
          <a:p>
            <a:pPr>
              <a:spcAft>
                <a:spcPts val="1200"/>
              </a:spcAft>
              <a:defRPr sz="1600">
                <a:solidFill>
                  <a:srgbClr val="333333"/>
                </a:solidFill>
                <a:latin typeface="Calibri"/>
              </a:defRPr>
            </a:pPr>
            <a:r>
              <a:t>• Strengthen Business Resilience and Employee Trust:</a:t>
            </a:r>
          </a:p>
        </p:txBody>
      </p:sp>
      <p:pic>
        <p:nvPicPr>
          <p:cNvPr id="5" name="Picture 4" descr="0255d68573a1.png"/>
          <p:cNvPicPr>
            <a:picLocks noChangeAspect="1"/>
          </p:cNvPicPr>
          <p:nvPr/>
        </p:nvPicPr>
        <p:blipFill>
          <a:blip r:embed="rId2"/>
          <a:stretch>
            <a:fillRect/>
          </a:stretch>
        </p:blipFill>
        <p:spPr>
          <a:xfrm>
            <a:off x="6858000" y="1645920"/>
            <a:ext cx="4572000" cy="25903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The ADP SecurTime Advantage</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Unmatched Hardware Flexibility and Advanced Biometric Security:</a:t>
            </a:r>
          </a:p>
          <a:p>
            <a:pPr>
              <a:spcAft>
                <a:spcPts val="1200"/>
              </a:spcAft>
              <a:defRPr sz="1600">
                <a:solidFill>
                  <a:srgbClr val="333333"/>
                </a:solidFill>
                <a:latin typeface="Calibri"/>
              </a:defRPr>
            </a:pPr>
            <a:r>
              <a:t>• Secure, Mobile-First Management for Distributed Workforces:</a:t>
            </a:r>
          </a:p>
          <a:p>
            <a:pPr>
              <a:spcAft>
                <a:spcPts val="1200"/>
              </a:spcAft>
              <a:defRPr sz="1600">
                <a:solidFill>
                  <a:srgbClr val="333333"/>
                </a:solidFill>
                <a:latin typeface="Calibri"/>
              </a:defRPr>
            </a:pPr>
            <a:r>
              <a:t>• Unified, Industry-Tailored Platform for Strategic Optimization:</a:t>
            </a:r>
          </a:p>
        </p:txBody>
      </p:sp>
      <p:pic>
        <p:nvPicPr>
          <p:cNvPr id="5" name="Picture 4" descr="2167f6759b48.jpg"/>
          <p:cNvPicPr>
            <a:picLocks noChangeAspect="1"/>
          </p:cNvPicPr>
          <p:nvPr/>
        </p:nvPicPr>
        <p:blipFill>
          <a:blip r:embed="rId2"/>
          <a:stretch>
            <a:fillRect/>
          </a:stretch>
        </p:blipFill>
        <p:spPr>
          <a:xfrm>
            <a:off x="6858000" y="1645920"/>
            <a:ext cx="4572000" cy="33421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square">
            <a:spAutoFit/>
          </a:bodyPr>
          <a:lstStyle/>
          <a:p>
            <a:pPr>
              <a:defRPr sz="3200" b="1">
                <a:solidFill>
                  <a:srgbClr val="0066CC"/>
                </a:solidFill>
                <a:latin typeface="Calibri"/>
              </a:defRPr>
            </a:pPr>
            <a:r>
              <a:t>Enhance Your Workforce Efficiency</a:t>
            </a:r>
          </a:p>
        </p:txBody>
      </p:sp>
      <p:sp>
        <p:nvSpPr>
          <p:cNvPr id="4" name="TextBox 3"/>
          <p:cNvSpPr txBox="1"/>
          <p:nvPr/>
        </p:nvSpPr>
        <p:spPr>
          <a:xfrm>
            <a:off x="457200" y="1645920"/>
            <a:ext cx="5943600" cy="4572000"/>
          </a:xfrm>
          <a:prstGeom prst="rect">
            <a:avLst/>
          </a:prstGeom>
          <a:noFill/>
        </p:spPr>
        <p:txBody>
          <a:bodyPr wrap="square">
            <a:spAutoFit/>
          </a:bodyPr>
          <a:lstStyle/>
          <a:p>
            <a:pPr>
              <a:spcAft>
                <a:spcPts val="1200"/>
              </a:spcAft>
              <a:defRPr sz="1600">
                <a:solidFill>
                  <a:srgbClr val="333333"/>
                </a:solidFill>
                <a:latin typeface="Calibri"/>
              </a:defRPr>
            </a:pPr>
            <a:r>
              <a:t>• Schedule a personalized demonstration to see ADP SecurTime in action.</a:t>
            </a:r>
          </a:p>
          <a:p>
            <a:pPr>
              <a:spcAft>
                <a:spcPts val="1200"/>
              </a:spcAft>
              <a:defRPr sz="1600">
                <a:solidFill>
                  <a:srgbClr val="333333"/>
                </a:solidFill>
                <a:latin typeface="Calibri"/>
              </a:defRPr>
            </a:pPr>
            <a:r>
              <a:t>• Request a detailed overview of our tiered pricing and relevant case studies.</a:t>
            </a:r>
          </a:p>
        </p:txBody>
      </p:sp>
      <p:pic>
        <p:nvPicPr>
          <p:cNvPr id="5" name="Picture 4" descr="2167f6759b48.jpg"/>
          <p:cNvPicPr>
            <a:picLocks noChangeAspect="1"/>
          </p:cNvPicPr>
          <p:nvPr/>
        </p:nvPicPr>
        <p:blipFill>
          <a:blip r:embed="rId2"/>
          <a:stretch>
            <a:fillRect/>
          </a:stretch>
        </p:blipFill>
        <p:spPr>
          <a:xfrm>
            <a:off x="6858000" y="1645920"/>
            <a:ext cx="4572000" cy="3342105"/>
          </a:xfrm>
          <a:prstGeom prst="rect">
            <a:avLst/>
          </a:prstGeom>
        </p:spPr>
      </p:pic>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0"/>
            <a:ext cx="11277295" cy="914400"/>
          </a:xfrm>
          <a:prstGeom prst="rect">
            <a:avLst/>
          </a:prstGeom>
          <a:noFill/>
        </p:spPr>
        <p:txBody>
          <a:bodyPr wrap="none">
            <a:spAutoFit/>
          </a:bodyPr>
          <a:lstStyle/>
          <a:p>
            <a:pPr algn="ctr">
              <a:defRPr sz="4000" b="1">
                <a:solidFill>
                  <a:srgbClr val="0066CC"/>
                </a:solidFill>
                <a:latin typeface="Calibri"/>
              </a:defRPr>
            </a:pPr>
            <a:r>
              <a:t>Next Steps</a:t>
            </a:r>
          </a:p>
        </p:txBody>
      </p:sp>
      <p:sp>
        <p:nvSpPr>
          <p:cNvPr id="4" name="TextBox 3"/>
          <p:cNvSpPr txBox="1"/>
          <p:nvPr/>
        </p:nvSpPr>
        <p:spPr>
          <a:xfrm>
            <a:off x="1371600" y="2743200"/>
            <a:ext cx="9448495" cy="1097280"/>
          </a:xfrm>
          <a:prstGeom prst="rect">
            <a:avLst/>
          </a:prstGeom>
          <a:noFill/>
        </p:spPr>
        <p:txBody>
          <a:bodyPr wrap="square">
            <a:spAutoFit/>
          </a:bodyPr>
          <a:lstStyle/>
          <a:p>
            <a:pPr algn="ctr">
              <a:defRPr sz="2400" b="1">
                <a:solidFill>
                  <a:srgbClr val="FF6600"/>
                </a:solidFill>
                <a:latin typeface="Calibri"/>
              </a:defRPr>
            </a:pPr>
            <a:r>
              <a:t>Schedule a personalized demonstration to see ADP SecurTime in action.</a:t>
            </a:r>
          </a:p>
        </p:txBody>
      </p:sp>
      <p:sp>
        <p:nvSpPr>
          <p:cNvPr id="5" name="TextBox 4"/>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371600"/>
            <a:ext cx="1828800" cy="45720"/>
          </a:xfrm>
          <a:prstGeom prst="rect">
            <a:avLst/>
          </a:prstGeom>
          <a:solidFill>
            <a:srgbClr val="FF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85800"/>
            <a:ext cx="11277295" cy="731520"/>
          </a:xfrm>
          <a:prstGeom prst="rect">
            <a:avLst/>
          </a:prstGeom>
          <a:noFill/>
        </p:spPr>
        <p:txBody>
          <a:bodyPr wrap="none">
            <a:spAutoFit/>
          </a:bodyPr>
          <a:lstStyle/>
          <a:p>
            <a:pPr>
              <a:defRPr sz="3200" b="1">
                <a:solidFill>
                  <a:srgbClr val="0066CC"/>
                </a:solidFill>
                <a:latin typeface="Calibri"/>
              </a:defRPr>
            </a:pPr>
            <a:r>
              <a:t>The 30-Second Pitch</a:t>
            </a:r>
          </a:p>
        </p:txBody>
      </p:sp>
      <p:sp>
        <p:nvSpPr>
          <p:cNvPr id="4" name="TextBox 3"/>
          <p:cNvSpPr txBox="1"/>
          <p:nvPr/>
        </p:nvSpPr>
        <p:spPr>
          <a:xfrm>
            <a:off x="914400" y="1828800"/>
            <a:ext cx="10362895" cy="3657600"/>
          </a:xfrm>
          <a:prstGeom prst="rect">
            <a:avLst/>
          </a:prstGeom>
          <a:noFill/>
        </p:spPr>
        <p:txBody>
          <a:bodyPr wrap="square">
            <a:spAutoFit/>
          </a:bodyPr>
          <a:lstStyle/>
          <a:p>
            <a:pPr algn="ctr">
              <a:defRPr sz="2200" i="1">
                <a:solidFill>
                  <a:srgbClr val="333333"/>
                </a:solidFill>
                <a:latin typeface="Calibri"/>
              </a:defRPr>
            </a:pPr>
            <a:r>
              <a:t>"ADP SecurTime provides complete, real-time visibility into your workforce by automating everything from attendance to payroll. This eliminates costly time theft and inaccuracies, allowing you to significantly reduce labor costs and improve overall productivity."</a:t>
            </a:r>
          </a:p>
        </p:txBody>
      </p:sp>
      <p:sp>
        <p:nvSpPr>
          <p:cNvPr id="5" name="TextBox 4"/>
          <p:cNvSpPr txBox="1"/>
          <p:nvPr/>
        </p:nvSpPr>
        <p:spPr>
          <a:xfrm>
            <a:off x="1371600" y="4572000"/>
            <a:ext cx="9448495" cy="1828800"/>
          </a:xfrm>
          <a:prstGeom prst="rect">
            <a:avLst/>
          </a:prstGeom>
          <a:noFill/>
        </p:spPr>
        <p:txBody>
          <a:bodyPr wrap="square">
            <a:spAutoFit/>
          </a:bodyPr>
          <a:lstStyle/>
          <a:p>
            <a:pPr>
              <a:defRPr sz="1400" b="1">
                <a:solidFill>
                  <a:srgbClr val="666666"/>
                </a:solidFill>
                <a:latin typeface="Calibri"/>
              </a:defRPr>
            </a:pPr>
            <a:r>
              <a:t>Key Messages:</a:t>
            </a:r>
          </a:p>
          <a:p>
            <a:pPr>
              <a:defRPr sz="1200">
                <a:solidFill>
                  <a:srgbClr val="666666"/>
                </a:solidFill>
                <a:latin typeface="Calibri"/>
              </a:defRPr>
            </a:pPr>
            <a:r>
              <a:t>• Eliminate time theft and payroll errors with advanced biometrics.</a:t>
            </a:r>
          </a:p>
          <a:p>
            <a:pPr>
              <a:defRPr sz="1200">
                <a:solidFill>
                  <a:srgbClr val="666666"/>
                </a:solidFill>
                <a:latin typeface="Calibri"/>
              </a:defRPr>
            </a:pPr>
            <a:r>
              <a:t>• Manage time, schedules, and leave on one simple, unified platform.</a:t>
            </a:r>
          </a:p>
          <a:p>
            <a:pPr>
              <a:defRPr sz="1200">
                <a:solidFill>
                  <a:srgbClr val="666666"/>
                </a:solidFill>
                <a:latin typeface="Calibri"/>
              </a:defRPr>
            </a:pPr>
            <a:r>
              <a:t>• Securely track your entire workforce, from the office to the field.</a:t>
            </a:r>
          </a:p>
        </p:txBody>
      </p:sp>
      <p:sp>
        <p:nvSpPr>
          <p:cNvPr id="6" name="TextBox 5"/>
          <p:cNvSpPr txBox="1"/>
          <p:nvPr/>
        </p:nvSpPr>
        <p:spPr>
          <a:xfrm>
            <a:off x="11277295" y="6492240"/>
            <a:ext cx="457200" cy="274320"/>
          </a:xfrm>
          <a:prstGeom prst="rect">
            <a:avLst/>
          </a:prstGeom>
          <a:noFill/>
        </p:spPr>
        <p:txBody>
          <a:bodyPr wrap="none">
            <a:spAutoFit/>
          </a:bodyPr>
          <a:lstStyle/>
          <a:p>
            <a:pPr algn="r">
              <a:defRPr sz="1000">
                <a:solidFill>
                  <a:srgbClr val="66666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37160"/>
          </a:xfrm>
          <a:prstGeom prst="rect">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1371600"/>
          </a:xfrm>
          <a:prstGeom prst="rect">
            <a:avLst/>
          </a:prstGeom>
          <a:noFill/>
        </p:spPr>
        <p:txBody>
          <a:bodyPr wrap="none">
            <a:spAutoFit/>
          </a:bodyPr>
          <a:lstStyle/>
          <a:p>
            <a:pPr algn="ctr">
              <a:defRPr sz="4800" b="1">
                <a:solidFill>
                  <a:srgbClr val="333333"/>
                </a:solidFill>
                <a:latin typeface="Calibri"/>
              </a:defRPr>
            </a:pPr>
            <a:r>
              <a:t>Thank You</a:t>
            </a:r>
          </a:p>
        </p:txBody>
      </p:sp>
      <p:sp>
        <p:nvSpPr>
          <p:cNvPr id="4" name="TextBox 3"/>
          <p:cNvSpPr txBox="1"/>
          <p:nvPr/>
        </p:nvSpPr>
        <p:spPr>
          <a:xfrm>
            <a:off x="914400" y="3657600"/>
            <a:ext cx="10362895" cy="914400"/>
          </a:xfrm>
          <a:prstGeom prst="rect">
            <a:avLst/>
          </a:prstGeom>
          <a:noFill/>
        </p:spPr>
        <p:txBody>
          <a:bodyPr wrap="square">
            <a:spAutoFit/>
          </a:bodyPr>
          <a:lstStyle/>
          <a:p>
            <a:pPr algn="ctr">
              <a:defRPr sz="2000">
                <a:solidFill>
                  <a:srgbClr val="666666"/>
                </a:solidFill>
                <a:latin typeface="Calibri"/>
              </a:defRPr>
            </a:pPr>
            <a:r>
              <a:t>Effortlessly manage employee time, attendance, and payroll in one simple solution.</a:t>
            </a:r>
          </a:p>
        </p:txBody>
      </p:sp>
      <p:sp>
        <p:nvSpPr>
          <p:cNvPr id="5" name="TextBox 4"/>
          <p:cNvSpPr txBox="1"/>
          <p:nvPr/>
        </p:nvSpPr>
        <p:spPr>
          <a:xfrm>
            <a:off x="457200" y="5486400"/>
            <a:ext cx="11277295" cy="457200"/>
          </a:xfrm>
          <a:prstGeom prst="rect">
            <a:avLst/>
          </a:prstGeom>
          <a:noFill/>
        </p:spPr>
        <p:txBody>
          <a:bodyPr wrap="none">
            <a:spAutoFit/>
          </a:bodyPr>
          <a:lstStyle/>
          <a:p>
            <a:pPr algn="ctr">
              <a:defRPr sz="1400">
                <a:solidFill>
                  <a:srgbClr val="FF6600"/>
                </a:solidFill>
                <a:latin typeface="Calibri"/>
              </a:defRPr>
            </a:pPr>
            <a:r>
              <a:t>https://in.adp.com/what-we-offer/products/adp-securtime.aspx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